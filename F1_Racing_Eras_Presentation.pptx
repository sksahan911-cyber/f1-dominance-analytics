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BBBB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BBBBB"/>
                </a:solidFill>
                <a:latin typeface="Arial"/>
              </a:rPr>
              <a:t>Race Wins by Constructor — Pioneer Era (1950s–1970s)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Wins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F0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D7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88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6AA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499F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Lotus</c:v>
                  </c:pt>
                  <c:pt idx="1">
                    <c:v>Ferrari</c:v>
                  </c:pt>
                  <c:pt idx="2">
                    <c:v>Brabham</c:v>
                  </c:pt>
                  <c:pt idx="3">
                    <c:v>BRM</c:v>
                  </c:pt>
                  <c:pt idx="4">
                    <c:v>Alfa Romeo</c:v>
                  </c:pt>
                  <c:pt idx="5">
                    <c:v>Cooper</c:v>
                  </c:pt>
                  <c:pt idx="6">
                    <c:v>Maserati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79</c:v>
                </c:pt>
                <c:pt idx="1">
                  <c:v>43</c:v>
                </c:pt>
                <c:pt idx="2">
                  <c:v>22</c:v>
                </c:pt>
                <c:pt idx="3">
                  <c:v>11</c:v>
                </c:pt>
                <c:pt idx="4">
                  <c:v>11</c:v>
                </c:pt>
                <c:pt idx="5">
                  <c:v>14</c:v>
                </c:pt>
                <c:pt idx="6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0F0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22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0D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BBBB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BBBBB"/>
                </a:solidFill>
                <a:latin typeface="Arial"/>
              </a:rPr>
              <a:t>Wins by Constructor (1980s vs 1990s)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McLaren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1980s</c:v>
                  </c:pt>
                  <c:pt idx="1">
                    <c:v>1990s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Williams</c:v>
                </c:pt>
              </c:strCache>
            </c:strRef>
          </c:tx>
          <c:spPr>
            <a:solidFill>
              <a:srgbClr val="4499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1980s</c:v>
                  </c:pt>
                  <c:pt idx="1">
                    <c:v>1990s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</c:v>
                </c:pt>
                <c:pt idx="1">
                  <c:v>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Ferrari</c:v>
                </c:pt>
              </c:strCache>
            </c:strRef>
          </c:tx>
          <c:spPr>
            <a:solidFill>
              <a:srgbClr val="99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1980s</c:v>
                  </c:pt>
                  <c:pt idx="1">
                    <c:v>1990s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</c:v>
                </c:pt>
                <c:pt idx="1">
                  <c:v>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Benetton</c:v>
                </c:pt>
              </c:strCache>
            </c:strRef>
          </c:tx>
          <c:spPr>
            <a:solidFill>
              <a:srgbClr val="FF8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1980s</c:v>
                  </c:pt>
                  <c:pt idx="1">
                    <c:v>1990s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27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888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1980s</c:v>
                  </c:pt>
                  <c:pt idx="1">
                    <c:v>1990s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26</c:v>
                </c:pt>
                <c:pt idx="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222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BBBBB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0D1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BBBBB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BBBBBB"/>
                </a:solidFill>
                <a:latin typeface="Arial"/>
              </a:rPr>
              <a:t>Race Wins per 2-Year Period (2000–2024)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Ferrari</c:v>
                </c:pt>
              </c:strCache>
            </c:strRef>
          </c:tx>
          <c:spPr>
            <a:solidFill>
              <a:srgbClr val="E50914"/>
            </a:solidFill>
            <a:ln w="3175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2000</c:v>
                  </c:pt>
                  <c:pt idx="1">
                    <c:v>2002</c:v>
                  </c:pt>
                  <c:pt idx="2">
                    <c:v>2004</c:v>
                  </c:pt>
                  <c:pt idx="3">
                    <c:v>2006</c:v>
                  </c:pt>
                  <c:pt idx="4">
                    <c:v>2008</c:v>
                  </c:pt>
                  <c:pt idx="5">
                    <c:v>2010</c:v>
                  </c:pt>
                  <c:pt idx="6">
                    <c:v>2012</c:v>
                  </c:pt>
                  <c:pt idx="7">
                    <c:v>2014</c:v>
                  </c:pt>
                  <c:pt idx="8">
                    <c:v>2016</c:v>
                  </c:pt>
                  <c:pt idx="9">
                    <c:v>2018</c:v>
                  </c:pt>
                  <c:pt idx="10">
                    <c:v>2020</c:v>
                  </c:pt>
                  <c:pt idx="11">
                    <c:v>2022</c:v>
                  </c:pt>
                  <c:pt idx="12">
                    <c:v>2024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15</c:v>
                </c:pt>
                <c:pt idx="2">
                  <c:v>15</c:v>
                </c:pt>
                <c:pt idx="3">
                  <c:v>2</c:v>
                </c:pt>
                <c:pt idx="4">
                  <c:v>1</c:v>
                </c:pt>
                <c:pt idx="5">
                  <c:v>0</c:v>
                </c:pt>
                <c:pt idx="6">
                  <c:v>3</c:v>
                </c:pt>
                <c:pt idx="7">
                  <c:v>0</c:v>
                </c:pt>
                <c:pt idx="8">
                  <c:v>3</c:v>
                </c:pt>
                <c:pt idx="9">
                  <c:v>6</c:v>
                </c:pt>
                <c:pt idx="10">
                  <c:v>0</c:v>
                </c:pt>
                <c:pt idx="11">
                  <c:v>4</c:v>
                </c:pt>
                <c:pt idx="12">
                  <c:v>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Mercedes</c:v>
                </c:pt>
              </c:strCache>
            </c:strRef>
          </c:tx>
          <c:spPr>
            <a:solidFill>
              <a:srgbClr val="00D2BE"/>
            </a:solidFill>
            <a:ln w="31750" cap="flat">
              <a:solidFill>
                <a:srgbClr val="00D2B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2BE"/>
              </a:solidFill>
              <a:ln w="9525" cap="flat">
                <a:solidFill>
                  <a:srgbClr val="00D2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2000</c:v>
                  </c:pt>
                  <c:pt idx="1">
                    <c:v>2002</c:v>
                  </c:pt>
                  <c:pt idx="2">
                    <c:v>2004</c:v>
                  </c:pt>
                  <c:pt idx="3">
                    <c:v>2006</c:v>
                  </c:pt>
                  <c:pt idx="4">
                    <c:v>2008</c:v>
                  </c:pt>
                  <c:pt idx="5">
                    <c:v>2010</c:v>
                  </c:pt>
                  <c:pt idx="6">
                    <c:v>2012</c:v>
                  </c:pt>
                  <c:pt idx="7">
                    <c:v>2014</c:v>
                  </c:pt>
                  <c:pt idx="8">
                    <c:v>2016</c:v>
                  </c:pt>
                  <c:pt idx="9">
                    <c:v>2018</c:v>
                  </c:pt>
                  <c:pt idx="10">
                    <c:v>2020</c:v>
                  </c:pt>
                  <c:pt idx="11">
                    <c:v>2022</c:v>
                  </c:pt>
                  <c:pt idx="12">
                    <c:v>2024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</c:v>
                </c:pt>
                <c:pt idx="5">
                  <c:v>4</c:v>
                </c:pt>
                <c:pt idx="6">
                  <c:v>7</c:v>
                </c:pt>
                <c:pt idx="7">
                  <c:v>16</c:v>
                </c:pt>
                <c:pt idx="8">
                  <c:v>19</c:v>
                </c:pt>
                <c:pt idx="9">
                  <c:v>11</c:v>
                </c:pt>
                <c:pt idx="10">
                  <c:v>13</c:v>
                </c:pt>
                <c:pt idx="11">
                  <c:v>1</c:v>
                </c:pt>
                <c:pt idx="12">
                  <c:v>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 Bull</c:v>
                </c:pt>
              </c:strCache>
            </c:strRef>
          </c:tx>
          <c:spPr>
            <a:solidFill>
              <a:srgbClr val="3671C6"/>
            </a:solidFill>
            <a:ln w="31750" cap="flat">
              <a:solidFill>
                <a:srgbClr val="3671C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671C6"/>
              </a:solidFill>
              <a:ln w="9525" cap="flat">
                <a:solidFill>
                  <a:srgbClr val="3671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2000</c:v>
                  </c:pt>
                  <c:pt idx="1">
                    <c:v>2002</c:v>
                  </c:pt>
                  <c:pt idx="2">
                    <c:v>2004</c:v>
                  </c:pt>
                  <c:pt idx="3">
                    <c:v>2006</c:v>
                  </c:pt>
                  <c:pt idx="4">
                    <c:v>2008</c:v>
                  </c:pt>
                  <c:pt idx="5">
                    <c:v>2010</c:v>
                  </c:pt>
                  <c:pt idx="6">
                    <c:v>2012</c:v>
                  </c:pt>
                  <c:pt idx="7">
                    <c:v>2014</c:v>
                  </c:pt>
                  <c:pt idx="8">
                    <c:v>2016</c:v>
                  </c:pt>
                  <c:pt idx="9">
                    <c:v>2018</c:v>
                  </c:pt>
                  <c:pt idx="10">
                    <c:v>2020</c:v>
                  </c:pt>
                  <c:pt idx="11">
                    <c:v>2022</c:v>
                  </c:pt>
                  <c:pt idx="12">
                    <c:v>2024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</c:v>
                </c:pt>
                <c:pt idx="6">
                  <c:v>12</c:v>
                </c:pt>
                <c:pt idx="7">
                  <c:v>2</c:v>
                </c:pt>
                <c:pt idx="8">
                  <c:v>2</c:v>
                </c:pt>
                <c:pt idx="9">
                  <c:v>4</c:v>
                </c:pt>
                <c:pt idx="10">
                  <c:v>2</c:v>
                </c:pt>
                <c:pt idx="11">
                  <c:v>17</c:v>
                </c:pt>
                <c:pt idx="12">
                  <c:v>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McLaren</c:v>
                </c:pt>
              </c:strCache>
            </c:strRef>
          </c:tx>
          <c:spPr>
            <a:solidFill>
              <a:srgbClr val="FF8000"/>
            </a:solidFill>
            <a:ln w="31750" cap="flat">
              <a:solidFill>
                <a:srgbClr val="FF8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8000"/>
              </a:solidFill>
              <a:ln w="9525" cap="flat">
                <a:solidFill>
                  <a:srgbClr val="FF8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2000</c:v>
                  </c:pt>
                  <c:pt idx="1">
                    <c:v>2002</c:v>
                  </c:pt>
                  <c:pt idx="2">
                    <c:v>2004</c:v>
                  </c:pt>
                  <c:pt idx="3">
                    <c:v>2006</c:v>
                  </c:pt>
                  <c:pt idx="4">
                    <c:v>2008</c:v>
                  </c:pt>
                  <c:pt idx="5">
                    <c:v>2010</c:v>
                  </c:pt>
                  <c:pt idx="6">
                    <c:v>2012</c:v>
                  </c:pt>
                  <c:pt idx="7">
                    <c:v>2014</c:v>
                  </c:pt>
                  <c:pt idx="8">
                    <c:v>2016</c:v>
                  </c:pt>
                  <c:pt idx="9">
                    <c:v>2018</c:v>
                  </c:pt>
                  <c:pt idx="10">
                    <c:v>2020</c:v>
                  </c:pt>
                  <c:pt idx="11">
                    <c:v>2022</c:v>
                  </c:pt>
                  <c:pt idx="12">
                    <c:v>2024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7</c:v>
                </c:pt>
                <c:pt idx="1">
                  <c:v>0</c:v>
                </c:pt>
                <c:pt idx="2">
                  <c:v>1</c:v>
                </c:pt>
                <c:pt idx="3">
                  <c:v>7</c:v>
                </c:pt>
                <c:pt idx="4">
                  <c:v>6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1A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BBBBB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0D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Walk audience through the five racing eras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Pioneer era: Alfa Romeo → Ferrari → Lotus. Technical revolution by Colin Chapman (monocoque chassis) changed F1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Senna vs Prost — the greatest F1 rivalry. McLaren's turbo-era Honda partnership was dominant; Williams took over in the 1990s with Renault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era: three clear phases of dominance. Ferrari 2000-04 (Schumacher's 5 titles), Red Bull 2010-13 (Vettel's 4 titles), Mercedes 2014-21 (Hamilton's unprecedented 7 championships). 2025 hints at McLaren with Lando Norris.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0D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120640" y="0"/>
            <a:ext cx="109728" cy="5143500"/>
          </a:xfrm>
          <a:prstGeom prst="rect">
            <a:avLst/>
          </a:prstGeom>
          <a:solidFill>
            <a:srgbClr val="E50914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0"/>
            <a:ext cx="109728" cy="5143500"/>
          </a:xfrm>
          <a:prstGeom prst="rect">
            <a:avLst/>
          </a:prstGeom>
          <a:solidFill>
            <a:srgbClr val="E50914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0"/>
            <a:ext cx="109728" cy="5143500"/>
          </a:xfrm>
          <a:prstGeom prst="rect">
            <a:avLst/>
          </a:prstGeom>
          <a:solidFill>
            <a:srgbClr val="E50914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66560" y="0"/>
            <a:ext cx="109728" cy="5143500"/>
          </a:xfrm>
          <a:prstGeom prst="rect">
            <a:avLst/>
          </a:prstGeom>
          <a:solidFill>
            <a:srgbClr val="E50914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0"/>
            <a:ext cx="109728" cy="5143500"/>
          </a:xfrm>
          <a:prstGeom prst="rect">
            <a:avLst/>
          </a:prstGeom>
          <a:solidFill>
            <a:srgbClr val="E50914">
              <a:alpha val="3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48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1 CONSTRUCTOR DOMINANCE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 — 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Seasons  ·  1,142 Races  ·  107 Unique Winners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320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 BY DECADE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685800"/>
            <a:ext cx="3749040" cy="694944"/>
          </a:xfrm>
          <a:prstGeom prst="roundRect">
            <a:avLst>
              <a:gd name="adj" fmla="val 6579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21808" y="758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21808" y="1014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 Romeo / Ferrari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1490472"/>
            <a:ext cx="3749040" cy="694944"/>
          </a:xfrm>
          <a:prstGeom prst="roundRect">
            <a:avLst>
              <a:gd name="adj" fmla="val 6579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21808" y="15636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1960-70s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21808" y="1819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Lotus / Tyrrell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2295144"/>
            <a:ext cx="3749040" cy="694944"/>
          </a:xfrm>
          <a:prstGeom prst="roundRect">
            <a:avLst>
              <a:gd name="adj" fmla="val 6579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21808" y="23682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1980-90s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21808" y="2624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McLaren / Williams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3099816"/>
            <a:ext cx="3749040" cy="694944"/>
          </a:xfrm>
          <a:prstGeom prst="roundRect">
            <a:avLst>
              <a:gd name="adj" fmla="val 6579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1808" y="3172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7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2000-10s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21808" y="3429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Ferrari / Red Bull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3904488"/>
            <a:ext cx="3749040" cy="694944"/>
          </a:xfrm>
          <a:prstGeom prst="roundRect">
            <a:avLst>
              <a:gd name="adj" fmla="val 6579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21808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21808" y="4233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 / Red Bull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  ·  THE PIONEER YEARS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 Dominance: 1950s – 1970s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61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 Romeo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1950-1951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wins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the championship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261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1952-1964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810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wins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46120" y="22311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dynasty begins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118872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1261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Lotus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80760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1960-1978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8105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wins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80760" y="22311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revolutionaries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20040" y="2926080"/>
          <a:ext cx="85039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  ·  THE TURBO &amp; GLORY YEARS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 Dominance: 1980s – 1990s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15568"/>
            <a:ext cx="3474720" cy="3886200"/>
          </a:xfrm>
          <a:prstGeom prst="roundRect">
            <a:avLst>
              <a:gd name="adj" fmla="val 1579"/>
            </a:avLst>
          </a:prstGeom>
          <a:solidFill>
            <a:srgbClr val="0D0D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07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GREATEST RIVALRY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Alain Prost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017520" cy="164592"/>
          </a:xfrm>
          <a:prstGeom prst="rect">
            <a:avLst/>
          </a:prstGeom>
          <a:solidFill>
            <a:srgbClr val="11112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47088"/>
            <a:ext cx="3017520" cy="164592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482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wins  |  McLaren / Ferrari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Ayrton Senna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017520" cy="164592"/>
          </a:xfrm>
          <a:prstGeom prst="rect">
            <a:avLst/>
          </a:prstGeom>
          <a:solidFill>
            <a:srgbClr val="11112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97480"/>
            <a:ext cx="2425849" cy="16459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98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wins  |  McLaren-Honda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Nigel Mansell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3017520" cy="164592"/>
          </a:xfrm>
          <a:prstGeom prst="rect">
            <a:avLst/>
          </a:prstGeom>
          <a:solidFill>
            <a:srgbClr val="11112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547872"/>
            <a:ext cx="1834179" cy="164592"/>
          </a:xfrm>
          <a:prstGeom prst="rect">
            <a:avLst/>
          </a:prstGeom>
          <a:solidFill>
            <a:srgbClr val="4499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wins  |  Williams-Renault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123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Piquet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98264"/>
            <a:ext cx="3017520" cy="164592"/>
          </a:xfrm>
          <a:prstGeom prst="rect">
            <a:avLst/>
          </a:prstGeom>
          <a:solidFill>
            <a:srgbClr val="11112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398264"/>
            <a:ext cx="1360842" cy="164592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99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wins  |  Brabham / Williams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77640" y="1115568"/>
            <a:ext cx="1554480" cy="1737360"/>
          </a:xfrm>
          <a:prstGeom prst="roundRect">
            <a:avLst>
              <a:gd name="adj" fmla="val 2941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77640" y="1188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4050792" y="201168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McLaren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1984-1991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87568" y="1115568"/>
            <a:ext cx="1554480" cy="1737360"/>
          </a:xfrm>
          <a:prstGeom prst="roundRect">
            <a:avLst>
              <a:gd name="adj" fmla="val 2941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87568" y="1188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4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5760720" y="201168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1980-1997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97496" y="1115568"/>
            <a:ext cx="1554480" cy="1737360"/>
          </a:xfrm>
          <a:prstGeom prst="roundRect">
            <a:avLst>
              <a:gd name="adj" fmla="val 2941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97496" y="1188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7470648" y="201168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Senna World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McLaren</a:t>
            </a:r>
            <a:endParaRPr lang="en-US" sz="9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3977640" y="2944368"/>
          <a:ext cx="48463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  ·  THE MODERN DOMINANCE ERA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 Dominance: 2000s – 2025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D2B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15568"/>
            <a:ext cx="1554480" cy="2103120"/>
          </a:xfrm>
          <a:prstGeom prst="roundRect">
            <a:avLst>
              <a:gd name="adj" fmla="val 2941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1554480" cy="21945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15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Schumacher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39112" y="1115568"/>
            <a:ext cx="1554480" cy="2103120"/>
          </a:xfrm>
          <a:prstGeom prst="roundRect">
            <a:avLst>
              <a:gd name="adj" fmla="val 2941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1115568"/>
            <a:ext cx="1554480" cy="219456"/>
          </a:xfrm>
          <a:prstGeom prst="rect">
            <a:avLst/>
          </a:prstGeom>
          <a:solidFill>
            <a:srgbClr val="3671C6"/>
          </a:solidFill>
          <a:ln/>
        </p:spPr>
      </p:sp>
      <p:sp>
        <p:nvSpPr>
          <p:cNvPr id="14" name="Text 12"/>
          <p:cNvSpPr/>
          <p:nvPr/>
        </p:nvSpPr>
        <p:spPr>
          <a:xfrm>
            <a:off x="2039112" y="1115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84832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7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Bull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67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Vettel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084832" y="2514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58184" y="1115568"/>
            <a:ext cx="1554480" cy="2103120"/>
          </a:xfrm>
          <a:prstGeom prst="roundRect">
            <a:avLst>
              <a:gd name="adj" fmla="val 2941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58184" y="1115568"/>
            <a:ext cx="1554480" cy="219456"/>
          </a:xfrm>
          <a:prstGeom prst="rect">
            <a:avLst/>
          </a:prstGeom>
          <a:solidFill>
            <a:srgbClr val="00D2BE"/>
          </a:solidFill>
          <a:ln/>
        </p:spPr>
      </p:sp>
      <p:sp>
        <p:nvSpPr>
          <p:cNvPr id="20" name="Text 18"/>
          <p:cNvSpPr/>
          <p:nvPr/>
        </p:nvSpPr>
        <p:spPr>
          <a:xfrm>
            <a:off x="3758184" y="1115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03904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03904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803904" y="2514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77256" y="1115568"/>
            <a:ext cx="1554480" cy="2103120"/>
          </a:xfrm>
          <a:prstGeom prst="roundRect">
            <a:avLst>
              <a:gd name="adj" fmla="val 2941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77256" y="1115568"/>
            <a:ext cx="1554480" cy="219456"/>
          </a:xfrm>
          <a:prstGeom prst="rect">
            <a:avLst/>
          </a:prstGeom>
          <a:solidFill>
            <a:srgbClr val="3671C6"/>
          </a:solidFill>
          <a:ln/>
        </p:spPr>
      </p:sp>
      <p:sp>
        <p:nvSpPr>
          <p:cNvPr id="26" name="Text 24"/>
          <p:cNvSpPr/>
          <p:nvPr/>
        </p:nvSpPr>
        <p:spPr>
          <a:xfrm>
            <a:off x="5477256" y="1115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22976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7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Bull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67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Verstappen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22976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522976" y="2514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96328" y="1115568"/>
            <a:ext cx="1554480" cy="2103120"/>
          </a:xfrm>
          <a:prstGeom prst="roundRect">
            <a:avLst>
              <a:gd name="adj" fmla="val 2941"/>
            </a:avLst>
          </a:prstGeom>
          <a:solidFill>
            <a:srgbClr val="1111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96328" y="1115568"/>
            <a:ext cx="1554480" cy="219456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32" name="Text 30"/>
          <p:cNvSpPr/>
          <p:nvPr/>
        </p:nvSpPr>
        <p:spPr>
          <a:xfrm>
            <a:off x="7196328" y="1115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42048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McLaren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Norris?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42048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7242048" y="2514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320040" y="3310128"/>
          <a:ext cx="85039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Racing Eras — F1 Constructor Dominance 1950–2025</dc:title>
  <dc:subject>PptxGenJS Presentation</dc:subject>
  <dc:creator>F1 Analytics</dc:creator>
  <cp:lastModifiedBy>F1 Analytics</cp:lastModifiedBy>
  <cp:revision>1</cp:revision>
  <dcterms:created xsi:type="dcterms:W3CDTF">2026-06-24T15:39:23Z</dcterms:created>
  <dcterms:modified xsi:type="dcterms:W3CDTF">2026-06-24T15:39:23Z</dcterms:modified>
</cp:coreProperties>
</file>